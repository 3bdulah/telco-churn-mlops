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513"/>
    <p:restoredTop sz="94610"/>
  </p:normalViewPr>
  <p:slideViewPr>
    <p:cSldViewPr snapToGrid="0" snapToObjects="1">
      <p:cViewPr>
        <p:scale>
          <a:sx n="62" d="100"/>
          <a:sy n="62" d="100"/>
        </p:scale>
        <p:origin x="40" y="2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8FAFC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F8FAFC"/>
                </a:solidFill>
                <a:latin typeface="Calibri"/>
              </a:rPr>
              <a:t>F1 vs ROC-AUC across 4 models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8FAFC"/>
                    </a:solidFill>
                    <a:latin typeface="Arial"/>
                  </a:defRPr>
                </a:pPr>
                <a:endParaRPr lang="en-S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Reg.</c:v>
                </c:pt>
                <c:pt idx="1">
                  <c:v>Random Forest</c:v>
                </c:pt>
                <c:pt idx="2">
                  <c:v>Gradient Boost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0.61839999999999995</c:v>
                </c:pt>
                <c:pt idx="1">
                  <c:v>0.63029999999999997</c:v>
                </c:pt>
                <c:pt idx="2">
                  <c:v>0.59530000000000005</c:v>
                </c:pt>
                <c:pt idx="3">
                  <c:v>0.61860000000000004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78-674F-B9BA-31AAF27BB3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8FAFC"/>
                    </a:solidFill>
                    <a:latin typeface="Arial"/>
                  </a:defRPr>
                </a:pPr>
                <a:endParaRPr lang="en-S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Reg.</c:v>
                </c:pt>
                <c:pt idx="1">
                  <c:v>Random Forest</c:v>
                </c:pt>
                <c:pt idx="2">
                  <c:v>Gradient Boost</c:v>
                </c:pt>
                <c:pt idx="3">
                  <c:v>XGBoost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0.84009999999999996</c:v>
                </c:pt>
                <c:pt idx="1">
                  <c:v>0.84340000000000004</c:v>
                </c:pt>
                <c:pt idx="2">
                  <c:v>0.83860000000000001</c:v>
                </c:pt>
                <c:pt idx="3">
                  <c:v>0.83440000000000003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78-674F-B9BA-31AAF27BB3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5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93B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8FAFC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F8FAFC"/>
                </a:solidFill>
                <a:latin typeface="Calibri"/>
              </a:rPr>
              <a:t>Model degradation across 3 drift windows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ln w="38100" cap="flat">
              <a:solidFill>
                <a:srgbClr val="06B6D4"/>
              </a:solidFill>
              <a:prstDash val="solid"/>
              <a:round/>
            </a:ln>
            <a:effectLst/>
          </c:spPr>
          <c:marker>
            <c:symbol val="circle"/>
            <c:size val="10"/>
            <c:spPr>
              <a:solidFill>
                <a:srgbClr val="06B6D4"/>
              </a:solidFill>
              <a:ln w="9525" cap="flat">
                <a:solidFill>
                  <a:srgbClr val="0F172A"/>
                </a:solidFill>
                <a:prstDash val="solid"/>
                <a:round/>
              </a:ln>
              <a:effectLst/>
            </c:spPr>
          </c:marker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8FAFC"/>
                    </a:solidFill>
                    <a:latin typeface="Arial"/>
                  </a:defRPr>
                </a:pPr>
                <a:endParaRPr lang="en-SA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W1 — clean</c:v>
                </c:pt>
                <c:pt idx="1">
                  <c:v>W2 — mild drift</c:v>
                </c:pt>
                <c:pt idx="2">
                  <c:v>W3 — heavy drift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0.60150000000000003</c:v>
                </c:pt>
                <c:pt idx="1">
                  <c:v>0.5323</c:v>
                </c:pt>
                <c:pt idx="2">
                  <c:v>0.43080000000000002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041-164F-BEAA-BF4F1C34B1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Accuracy</c:v>
                </c:pt>
              </c:strCache>
            </c:strRef>
          </c:tx>
          <c:spPr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10"/>
            <c:spPr>
              <a:solidFill>
                <a:srgbClr val="F59E0B"/>
              </a:solidFill>
              <a:ln w="9525" cap="flat">
                <a:solidFill>
                  <a:srgbClr val="0F172A"/>
                </a:solidFill>
                <a:prstDash val="solid"/>
                <a:round/>
              </a:ln>
              <a:effectLst/>
            </c:spPr>
          </c:marker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8FAFC"/>
                    </a:solidFill>
                    <a:latin typeface="Arial"/>
                  </a:defRPr>
                </a:pPr>
                <a:endParaRPr lang="en-SA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W1 — clean</c:v>
                </c:pt>
                <c:pt idx="1">
                  <c:v>W2 — mild drift</c:v>
                </c:pt>
                <c:pt idx="2">
                  <c:v>W3 — heavy drift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0.80910000000000004</c:v>
                </c:pt>
                <c:pt idx="1">
                  <c:v>0.77929999999999999</c:v>
                </c:pt>
                <c:pt idx="2">
                  <c:v>0.64370000000000005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A041-164F-BEAA-BF4F1C34B11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3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93B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1526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03C48-616D-8628-6EDE-8058097FC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204FF6-42B4-E795-69E3-ECB9115969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4FB637-BA94-B08A-C982-272AD342C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828BA-C85D-FA42-CAD1-DA27BAB9A0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8644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657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9006840" y="3657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Shape 2"/>
          <p:cNvSpPr/>
          <p:nvPr/>
        </p:nvSpPr>
        <p:spPr>
          <a:xfrm>
            <a:off x="9326880" y="3657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9646920" y="3657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Shape 4"/>
          <p:cNvSpPr/>
          <p:nvPr/>
        </p:nvSpPr>
        <p:spPr>
          <a:xfrm>
            <a:off x="9966960" y="3657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Shape 5"/>
          <p:cNvSpPr/>
          <p:nvPr/>
        </p:nvSpPr>
        <p:spPr>
          <a:xfrm>
            <a:off x="10287000" y="3657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" name="Shape 6"/>
          <p:cNvSpPr/>
          <p:nvPr/>
        </p:nvSpPr>
        <p:spPr>
          <a:xfrm>
            <a:off x="10607040" y="3657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Shape 7"/>
          <p:cNvSpPr/>
          <p:nvPr/>
        </p:nvSpPr>
        <p:spPr>
          <a:xfrm>
            <a:off x="10927080" y="3657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Shape 8"/>
          <p:cNvSpPr/>
          <p:nvPr/>
        </p:nvSpPr>
        <p:spPr>
          <a:xfrm>
            <a:off x="11247120" y="3657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1" name="Shape 9"/>
          <p:cNvSpPr/>
          <p:nvPr/>
        </p:nvSpPr>
        <p:spPr>
          <a:xfrm>
            <a:off x="11567160" y="3657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2" name="Shape 10"/>
          <p:cNvSpPr/>
          <p:nvPr/>
        </p:nvSpPr>
        <p:spPr>
          <a:xfrm>
            <a:off x="8686800" y="6858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3" name="Shape 11"/>
          <p:cNvSpPr/>
          <p:nvPr/>
        </p:nvSpPr>
        <p:spPr>
          <a:xfrm>
            <a:off x="9006840" y="6858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4" name="Shape 12"/>
          <p:cNvSpPr/>
          <p:nvPr/>
        </p:nvSpPr>
        <p:spPr>
          <a:xfrm>
            <a:off x="9326880" y="6858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5" name="Shape 13"/>
          <p:cNvSpPr/>
          <p:nvPr/>
        </p:nvSpPr>
        <p:spPr>
          <a:xfrm>
            <a:off x="9646920" y="6858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6" name="Shape 14"/>
          <p:cNvSpPr/>
          <p:nvPr/>
        </p:nvSpPr>
        <p:spPr>
          <a:xfrm>
            <a:off x="9966960" y="6858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7" name="Shape 15"/>
          <p:cNvSpPr/>
          <p:nvPr/>
        </p:nvSpPr>
        <p:spPr>
          <a:xfrm>
            <a:off x="10287000" y="6858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8" name="Shape 16"/>
          <p:cNvSpPr/>
          <p:nvPr/>
        </p:nvSpPr>
        <p:spPr>
          <a:xfrm>
            <a:off x="10607040" y="6858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9" name="Shape 17"/>
          <p:cNvSpPr/>
          <p:nvPr/>
        </p:nvSpPr>
        <p:spPr>
          <a:xfrm>
            <a:off x="10927080" y="6858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0" name="Shape 18"/>
          <p:cNvSpPr/>
          <p:nvPr/>
        </p:nvSpPr>
        <p:spPr>
          <a:xfrm>
            <a:off x="11247120" y="6858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1" name="Shape 19"/>
          <p:cNvSpPr/>
          <p:nvPr/>
        </p:nvSpPr>
        <p:spPr>
          <a:xfrm>
            <a:off x="11567160" y="6858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2" name="Shape 20"/>
          <p:cNvSpPr/>
          <p:nvPr/>
        </p:nvSpPr>
        <p:spPr>
          <a:xfrm>
            <a:off x="8686800" y="10058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3" name="Shape 21"/>
          <p:cNvSpPr/>
          <p:nvPr/>
        </p:nvSpPr>
        <p:spPr>
          <a:xfrm>
            <a:off x="9006840" y="10058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4" name="Shape 22"/>
          <p:cNvSpPr/>
          <p:nvPr/>
        </p:nvSpPr>
        <p:spPr>
          <a:xfrm>
            <a:off x="9326880" y="10058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5" name="Shape 23"/>
          <p:cNvSpPr/>
          <p:nvPr/>
        </p:nvSpPr>
        <p:spPr>
          <a:xfrm>
            <a:off x="9646920" y="10058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6" name="Shape 24"/>
          <p:cNvSpPr/>
          <p:nvPr/>
        </p:nvSpPr>
        <p:spPr>
          <a:xfrm>
            <a:off x="9966960" y="10058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7" name="Shape 25"/>
          <p:cNvSpPr/>
          <p:nvPr/>
        </p:nvSpPr>
        <p:spPr>
          <a:xfrm>
            <a:off x="10287000" y="10058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8" name="Shape 26"/>
          <p:cNvSpPr/>
          <p:nvPr/>
        </p:nvSpPr>
        <p:spPr>
          <a:xfrm>
            <a:off x="10607040" y="10058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9" name="Shape 27"/>
          <p:cNvSpPr/>
          <p:nvPr/>
        </p:nvSpPr>
        <p:spPr>
          <a:xfrm>
            <a:off x="10927080" y="10058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0" name="Shape 28"/>
          <p:cNvSpPr/>
          <p:nvPr/>
        </p:nvSpPr>
        <p:spPr>
          <a:xfrm>
            <a:off x="11247120" y="10058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1" name="Shape 29"/>
          <p:cNvSpPr/>
          <p:nvPr/>
        </p:nvSpPr>
        <p:spPr>
          <a:xfrm>
            <a:off x="11567160" y="10058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2" name="Shape 30"/>
          <p:cNvSpPr/>
          <p:nvPr/>
        </p:nvSpPr>
        <p:spPr>
          <a:xfrm>
            <a:off x="8686800" y="132588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3" name="Shape 31"/>
          <p:cNvSpPr/>
          <p:nvPr/>
        </p:nvSpPr>
        <p:spPr>
          <a:xfrm>
            <a:off x="9006840" y="132588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4" name="Shape 32"/>
          <p:cNvSpPr/>
          <p:nvPr/>
        </p:nvSpPr>
        <p:spPr>
          <a:xfrm>
            <a:off x="9326880" y="132588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5" name="Shape 33"/>
          <p:cNvSpPr/>
          <p:nvPr/>
        </p:nvSpPr>
        <p:spPr>
          <a:xfrm>
            <a:off x="9646920" y="132588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6" name="Shape 34"/>
          <p:cNvSpPr/>
          <p:nvPr/>
        </p:nvSpPr>
        <p:spPr>
          <a:xfrm>
            <a:off x="9966960" y="132588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7" name="Shape 35"/>
          <p:cNvSpPr/>
          <p:nvPr/>
        </p:nvSpPr>
        <p:spPr>
          <a:xfrm>
            <a:off x="10287000" y="132588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8" name="Shape 36"/>
          <p:cNvSpPr/>
          <p:nvPr/>
        </p:nvSpPr>
        <p:spPr>
          <a:xfrm>
            <a:off x="10607040" y="132588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9" name="Shape 37"/>
          <p:cNvSpPr/>
          <p:nvPr/>
        </p:nvSpPr>
        <p:spPr>
          <a:xfrm>
            <a:off x="10927080" y="132588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0" name="Shape 38"/>
          <p:cNvSpPr/>
          <p:nvPr/>
        </p:nvSpPr>
        <p:spPr>
          <a:xfrm>
            <a:off x="11247120" y="132588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1" name="Shape 39"/>
          <p:cNvSpPr/>
          <p:nvPr/>
        </p:nvSpPr>
        <p:spPr>
          <a:xfrm>
            <a:off x="11567160" y="132588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2" name="Shape 40"/>
          <p:cNvSpPr/>
          <p:nvPr/>
        </p:nvSpPr>
        <p:spPr>
          <a:xfrm>
            <a:off x="8686800" y="164592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3" name="Shape 41"/>
          <p:cNvSpPr/>
          <p:nvPr/>
        </p:nvSpPr>
        <p:spPr>
          <a:xfrm>
            <a:off x="9006840" y="164592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4" name="Shape 42"/>
          <p:cNvSpPr/>
          <p:nvPr/>
        </p:nvSpPr>
        <p:spPr>
          <a:xfrm>
            <a:off x="9326880" y="164592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5" name="Shape 43"/>
          <p:cNvSpPr/>
          <p:nvPr/>
        </p:nvSpPr>
        <p:spPr>
          <a:xfrm>
            <a:off x="9646920" y="164592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6" name="Shape 44"/>
          <p:cNvSpPr/>
          <p:nvPr/>
        </p:nvSpPr>
        <p:spPr>
          <a:xfrm>
            <a:off x="9966960" y="164592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7" name="Shape 45"/>
          <p:cNvSpPr/>
          <p:nvPr/>
        </p:nvSpPr>
        <p:spPr>
          <a:xfrm>
            <a:off x="10287000" y="164592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8" name="Shape 46"/>
          <p:cNvSpPr/>
          <p:nvPr/>
        </p:nvSpPr>
        <p:spPr>
          <a:xfrm>
            <a:off x="10607040" y="164592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9" name="Shape 47"/>
          <p:cNvSpPr/>
          <p:nvPr/>
        </p:nvSpPr>
        <p:spPr>
          <a:xfrm>
            <a:off x="10927080" y="164592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0" name="Shape 48"/>
          <p:cNvSpPr/>
          <p:nvPr/>
        </p:nvSpPr>
        <p:spPr>
          <a:xfrm>
            <a:off x="11247120" y="164592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1" name="Shape 49"/>
          <p:cNvSpPr/>
          <p:nvPr/>
        </p:nvSpPr>
        <p:spPr>
          <a:xfrm>
            <a:off x="11567160" y="164592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2" name="Shape 50"/>
          <p:cNvSpPr/>
          <p:nvPr/>
        </p:nvSpPr>
        <p:spPr>
          <a:xfrm>
            <a:off x="8686800" y="19659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3" name="Shape 51"/>
          <p:cNvSpPr/>
          <p:nvPr/>
        </p:nvSpPr>
        <p:spPr>
          <a:xfrm>
            <a:off x="9006840" y="19659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4" name="Shape 52"/>
          <p:cNvSpPr/>
          <p:nvPr/>
        </p:nvSpPr>
        <p:spPr>
          <a:xfrm>
            <a:off x="9326880" y="19659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5" name="Shape 53"/>
          <p:cNvSpPr/>
          <p:nvPr/>
        </p:nvSpPr>
        <p:spPr>
          <a:xfrm>
            <a:off x="9646920" y="19659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6" name="Shape 54"/>
          <p:cNvSpPr/>
          <p:nvPr/>
        </p:nvSpPr>
        <p:spPr>
          <a:xfrm>
            <a:off x="9966960" y="19659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7" name="Shape 55"/>
          <p:cNvSpPr/>
          <p:nvPr/>
        </p:nvSpPr>
        <p:spPr>
          <a:xfrm>
            <a:off x="10287000" y="19659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8" name="Shape 56"/>
          <p:cNvSpPr/>
          <p:nvPr/>
        </p:nvSpPr>
        <p:spPr>
          <a:xfrm>
            <a:off x="10607040" y="19659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9" name="Shape 57"/>
          <p:cNvSpPr/>
          <p:nvPr/>
        </p:nvSpPr>
        <p:spPr>
          <a:xfrm>
            <a:off x="10927080" y="19659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0" name="Shape 58"/>
          <p:cNvSpPr/>
          <p:nvPr/>
        </p:nvSpPr>
        <p:spPr>
          <a:xfrm>
            <a:off x="11247120" y="19659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1" name="Shape 59"/>
          <p:cNvSpPr/>
          <p:nvPr/>
        </p:nvSpPr>
        <p:spPr>
          <a:xfrm>
            <a:off x="11567160" y="19659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2" name="Shape 60"/>
          <p:cNvSpPr/>
          <p:nvPr/>
        </p:nvSpPr>
        <p:spPr>
          <a:xfrm>
            <a:off x="548640" y="2468880"/>
            <a:ext cx="73152" cy="19202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63" name="Text 61"/>
          <p:cNvSpPr/>
          <p:nvPr/>
        </p:nvSpPr>
        <p:spPr>
          <a:xfrm>
            <a:off x="822960" y="2514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AIN-3009  ·  MLOps Term Project  ·  Spring 2026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822960" y="28803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Telco Churn Prediction</a:t>
            </a:r>
            <a:endParaRPr lang="en-US" sz="4600" dirty="0"/>
          </a:p>
        </p:txBody>
      </p:sp>
      <p:sp>
        <p:nvSpPr>
          <p:cNvPr id="65" name="Text 63"/>
          <p:cNvSpPr/>
          <p:nvPr/>
        </p:nvSpPr>
        <p:spPr>
          <a:xfrm>
            <a:off x="822960" y="3749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Lifecycle Management with MLflow</a:t>
            </a:r>
            <a:endParaRPr lang="en-US" sz="2200" dirty="0"/>
          </a:p>
        </p:txBody>
      </p:sp>
      <p:sp>
        <p:nvSpPr>
          <p:cNvPr id="66" name="Shape 64"/>
          <p:cNvSpPr/>
          <p:nvPr/>
        </p:nvSpPr>
        <p:spPr>
          <a:xfrm>
            <a:off x="822960" y="4434840"/>
            <a:ext cx="905256" cy="347472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7" name="Text 65"/>
          <p:cNvSpPr/>
          <p:nvPr/>
        </p:nvSpPr>
        <p:spPr>
          <a:xfrm>
            <a:off x="822960" y="4434840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837944" y="4434840"/>
            <a:ext cx="804672" cy="347472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9" name="Text 67"/>
          <p:cNvSpPr/>
          <p:nvPr/>
        </p:nvSpPr>
        <p:spPr>
          <a:xfrm>
            <a:off x="1837944" y="443484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752344" y="443484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1" name="Text 69"/>
          <p:cNvSpPr/>
          <p:nvPr/>
        </p:nvSpPr>
        <p:spPr>
          <a:xfrm>
            <a:off x="2752344" y="44348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Hyperopt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867912" y="4434840"/>
            <a:ext cx="603504" cy="347472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3" name="Text 71"/>
          <p:cNvSpPr/>
          <p:nvPr/>
        </p:nvSpPr>
        <p:spPr>
          <a:xfrm>
            <a:off x="3867912" y="4434840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581144" y="4434840"/>
            <a:ext cx="905256" cy="347472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5" name="Text 73"/>
          <p:cNvSpPr/>
          <p:nvPr/>
        </p:nvSpPr>
        <p:spPr>
          <a:xfrm>
            <a:off x="4581144" y="4434840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5596128" y="4434840"/>
            <a:ext cx="1106424" cy="347472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7" name="Text 75"/>
          <p:cNvSpPr/>
          <p:nvPr/>
        </p:nvSpPr>
        <p:spPr>
          <a:xfrm>
            <a:off x="5596128" y="4434840"/>
            <a:ext cx="1106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6812280" y="4434840"/>
            <a:ext cx="1106424" cy="347472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9" name="Text 77"/>
          <p:cNvSpPr/>
          <p:nvPr/>
        </p:nvSpPr>
        <p:spPr>
          <a:xfrm>
            <a:off x="6812280" y="4434840"/>
            <a:ext cx="1106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8028432" y="443484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1" name="Text 79"/>
          <p:cNvSpPr/>
          <p:nvPr/>
        </p:nvSpPr>
        <p:spPr>
          <a:xfrm>
            <a:off x="8028432" y="44348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0" y="5897880"/>
            <a:ext cx="12161520" cy="9601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8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126480"/>
            <a:ext cx="411480" cy="411480"/>
          </a:xfrm>
          <a:prstGeom prst="rect">
            <a:avLst/>
          </a:prstGeom>
        </p:spPr>
      </p:pic>
      <p:sp>
        <p:nvSpPr>
          <p:cNvPr id="84" name="Text 81"/>
          <p:cNvSpPr/>
          <p:nvPr/>
        </p:nvSpPr>
        <p:spPr>
          <a:xfrm>
            <a:off x="1188720" y="59893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Hani Abdellatif Al-Shobaki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 2284612  ·  Bahçeşehir University</a:t>
            </a:r>
            <a:endParaRPr lang="en-US" sz="1400" dirty="0"/>
          </a:p>
        </p:txBody>
      </p:sp>
      <p:pic>
        <p:nvPicPr>
          <p:cNvPr id="8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6126480"/>
            <a:ext cx="411480" cy="411480"/>
          </a:xfrm>
          <a:prstGeom prst="rect">
            <a:avLst/>
          </a:prstGeom>
        </p:spPr>
      </p:pic>
      <p:sp>
        <p:nvSpPr>
          <p:cNvPr id="86" name="Text 82"/>
          <p:cNvSpPr/>
          <p:nvPr/>
        </p:nvSpPr>
        <p:spPr>
          <a:xfrm>
            <a:off x="7589520" y="59893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Gökşin Bakır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Department  ·  May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PROBLEM &amp; DOMAIN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Churn? Why MLOps?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77840" cy="45720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880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105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5166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companies lose </a:t>
            </a: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~5×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more acquiring a new customer than retaining one. Predicting churn </a:t>
            </a:r>
            <a:r>
              <a:rPr lang="en-US" sz="13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happens lets retention teams act early — but a model alone isn’t enough. We need a full MLOps pipeline: tracking, tuning, deploying, monitoring.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" y="4160520"/>
            <a:ext cx="1600200" cy="91440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Text 6"/>
          <p:cNvSpPr/>
          <p:nvPr/>
        </p:nvSpPr>
        <p:spPr>
          <a:xfrm>
            <a:off x="777240" y="4206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7240" y="4617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32888" y="4160520"/>
            <a:ext cx="1600200" cy="91440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2" name="Text 9"/>
          <p:cNvSpPr/>
          <p:nvPr/>
        </p:nvSpPr>
        <p:spPr>
          <a:xfrm>
            <a:off x="2532888" y="4206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532888" y="4617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88536" y="4160520"/>
            <a:ext cx="1600200" cy="91440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5" name="Text 12"/>
          <p:cNvSpPr/>
          <p:nvPr/>
        </p:nvSpPr>
        <p:spPr>
          <a:xfrm>
            <a:off x="4288536" y="4206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288536" y="4617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77240" y="5257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IBM Telco Customer Churn (Kaggle)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240" y="55778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handled with SMOTE + class_weight balancing.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355080" y="1645920"/>
            <a:ext cx="5257800" cy="45720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828800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086600" y="181051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Objectives Covered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6583680" y="2432304"/>
            <a:ext cx="310896" cy="310896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3" name="Text 19"/>
          <p:cNvSpPr/>
          <p:nvPr/>
        </p:nvSpPr>
        <p:spPr>
          <a:xfrm>
            <a:off x="6583680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040880" y="23774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 · params · metrics · artifacts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583680" y="3145536"/>
            <a:ext cx="310896" cy="310896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6" name="Text 22"/>
          <p:cNvSpPr/>
          <p:nvPr/>
        </p:nvSpPr>
        <p:spPr>
          <a:xfrm>
            <a:off x="6583680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7040880" y="309067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Tuning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Hyperopt TPE · 50 nested runs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583680" y="3858768"/>
            <a:ext cx="310896" cy="310896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9" name="Text 25"/>
          <p:cNvSpPr/>
          <p:nvPr/>
        </p:nvSpPr>
        <p:spPr>
          <a:xfrm>
            <a:off x="6583680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7040880" y="380390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 + Azure ML endpoint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6583680" y="4572000"/>
            <a:ext cx="310896" cy="310896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2" name="Text 28"/>
          <p:cNvSpPr/>
          <p:nvPr/>
        </p:nvSpPr>
        <p:spPr>
          <a:xfrm>
            <a:off x="6583680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7040880" y="451713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Monitoring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drift · 3 windows logged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6583680" y="5285232"/>
            <a:ext cx="310896" cy="310896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5" name="Text 31"/>
          <p:cNvSpPr/>
          <p:nvPr/>
        </p:nvSpPr>
        <p:spPr>
          <a:xfrm>
            <a:off x="6583680" y="5285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7040880" y="523036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→ Staging → Production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MLOps  ·  Abdullah Al-Shobaki  ·  AIN-3009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PIPELINE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21408" cy="20116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121408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21031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312724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CSV → preprocess.py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· scaler · split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620" y="2724912"/>
            <a:ext cx="155448" cy="15544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834640" y="1828800"/>
            <a:ext cx="2121408" cy="20116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1" name="Shape 7"/>
          <p:cNvSpPr/>
          <p:nvPr/>
        </p:nvSpPr>
        <p:spPr>
          <a:xfrm>
            <a:off x="2834640" y="1828800"/>
            <a:ext cx="2121408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1024" y="210312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926080" y="27432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2971800" y="312724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train.py · tune.py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runs + artifacts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620" y="2724912"/>
            <a:ext cx="155448" cy="15544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120640" y="1828800"/>
            <a:ext cx="2121408" cy="20116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7" name="Shape 11"/>
          <p:cNvSpPr/>
          <p:nvPr/>
        </p:nvSpPr>
        <p:spPr>
          <a:xfrm>
            <a:off x="5120640" y="1828800"/>
            <a:ext cx="2121408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7024" y="2103120"/>
            <a:ext cx="548640" cy="5486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12080" y="27432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5257800" y="312724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ChurnPredictionModel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→ Staging → Prod</a:t>
            </a:r>
            <a:endParaRPr lang="en-US" sz="10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620" y="2724912"/>
            <a:ext cx="155448" cy="15544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406640" y="1828800"/>
            <a:ext cx="2121408" cy="20116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3" name="Shape 15"/>
          <p:cNvSpPr/>
          <p:nvPr/>
        </p:nvSpPr>
        <p:spPr>
          <a:xfrm>
            <a:off x="7406640" y="1828800"/>
            <a:ext cx="2121408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3024" y="2103120"/>
            <a:ext cx="548640" cy="54864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498080" y="27432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7543800" y="312724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:8000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:8501</a:t>
            </a:r>
            <a:endParaRPr lang="en-US" sz="10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2620" y="2724912"/>
            <a:ext cx="155448" cy="155448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692640" y="1828800"/>
            <a:ext cx="2121408" cy="20116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9" name="Shape 19"/>
          <p:cNvSpPr/>
          <p:nvPr/>
        </p:nvSpPr>
        <p:spPr>
          <a:xfrm>
            <a:off x="9692640" y="1828800"/>
            <a:ext cx="2121408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79024" y="2103120"/>
            <a:ext cx="548640" cy="54864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784080" y="27432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32" name="Text 21"/>
          <p:cNvSpPr/>
          <p:nvPr/>
        </p:nvSpPr>
        <p:spPr>
          <a:xfrm>
            <a:off x="9829800" y="312724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drift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windows logged</a:t>
            </a:r>
            <a:endParaRPr lang="en-US" sz="1000" dirty="0"/>
          </a:p>
        </p:txBody>
      </p:sp>
      <p:sp>
        <p:nvSpPr>
          <p:cNvPr id="33" name="Shape 22"/>
          <p:cNvSpPr/>
          <p:nvPr/>
        </p:nvSpPr>
        <p:spPr>
          <a:xfrm>
            <a:off x="548640" y="4160520"/>
            <a:ext cx="11064240" cy="132588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4434840"/>
            <a:ext cx="502920" cy="50292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1417320" y="43708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 Cloud Layer</a:t>
            </a:r>
            <a:endParaRPr lang="en-US" sz="1600" dirty="0"/>
          </a:p>
        </p:txBody>
      </p:sp>
      <p:sp>
        <p:nvSpPr>
          <p:cNvPr id="36" name="Text 24"/>
          <p:cNvSpPr/>
          <p:nvPr/>
        </p:nvSpPr>
        <p:spPr>
          <a:xfrm>
            <a:off x="1417320" y="4736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+ Compute Cluster + Registered Model (live in Sweden Central)</a:t>
            </a:r>
            <a:endParaRPr lang="en-US" sz="1100" dirty="0"/>
          </a:p>
        </p:txBody>
      </p:sp>
      <p:sp>
        <p:nvSpPr>
          <p:cNvPr id="37" name="Shape 25"/>
          <p:cNvSpPr/>
          <p:nvPr/>
        </p:nvSpPr>
        <p:spPr>
          <a:xfrm>
            <a:off x="777240" y="5074920"/>
            <a:ext cx="1517904" cy="310896"/>
          </a:xfrm>
          <a:prstGeom prst="roundRect">
            <a:avLst>
              <a:gd name="adj" fmla="val 11765"/>
            </a:avLst>
          </a:prstGeom>
          <a:solidFill>
            <a:srgbClr val="0F172A"/>
          </a:solidFill>
          <a:ln w="9525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8" name="Text 26"/>
          <p:cNvSpPr/>
          <p:nvPr/>
        </p:nvSpPr>
        <p:spPr>
          <a:xfrm>
            <a:off x="777240" y="507492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ain3009-churn-ws</a:t>
            </a:r>
            <a:endParaRPr lang="en-US" sz="900" dirty="0"/>
          </a:p>
        </p:txBody>
      </p:sp>
      <p:sp>
        <p:nvSpPr>
          <p:cNvPr id="39" name="Shape 27"/>
          <p:cNvSpPr/>
          <p:nvPr/>
        </p:nvSpPr>
        <p:spPr>
          <a:xfrm>
            <a:off x="2459736" y="5074920"/>
            <a:ext cx="1984248" cy="310896"/>
          </a:xfrm>
          <a:prstGeom prst="roundRect">
            <a:avLst>
              <a:gd name="adj" fmla="val 11765"/>
            </a:avLst>
          </a:prstGeom>
          <a:solidFill>
            <a:srgbClr val="0F172A"/>
          </a:solidFill>
          <a:ln w="9525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0" name="Text 28"/>
          <p:cNvSpPr/>
          <p:nvPr/>
        </p:nvSpPr>
        <p:spPr>
          <a:xfrm>
            <a:off x="2459736" y="5074920"/>
            <a:ext cx="198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churn-cluster · DS3_v2</a:t>
            </a:r>
            <a:endParaRPr lang="en-US" sz="900" dirty="0"/>
          </a:p>
        </p:txBody>
      </p:sp>
      <p:sp>
        <p:nvSpPr>
          <p:cNvPr id="41" name="Shape 29"/>
          <p:cNvSpPr/>
          <p:nvPr/>
        </p:nvSpPr>
        <p:spPr>
          <a:xfrm>
            <a:off x="4608576" y="5074920"/>
            <a:ext cx="2061972" cy="310896"/>
          </a:xfrm>
          <a:prstGeom prst="roundRect">
            <a:avLst>
              <a:gd name="adj" fmla="val 11765"/>
            </a:avLst>
          </a:prstGeom>
          <a:solidFill>
            <a:srgbClr val="0F172A"/>
          </a:solidFill>
          <a:ln w="9525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2" name="Text 30"/>
          <p:cNvSpPr/>
          <p:nvPr/>
        </p:nvSpPr>
        <p:spPr>
          <a:xfrm>
            <a:off x="4608576" y="5074920"/>
            <a:ext cx="20619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ChurnPredictionModel v1</a:t>
            </a:r>
            <a:endParaRPr lang="en-US" sz="900" dirty="0"/>
          </a:p>
        </p:txBody>
      </p:sp>
      <p:sp>
        <p:nvSpPr>
          <p:cNvPr id="43" name="Text 31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is reproducible via the MLproject file —  mlflow run . -e &lt;stage&gt;</a:t>
            </a:r>
            <a:endParaRPr lang="en-US" sz="1200" dirty="0"/>
          </a:p>
        </p:txBody>
      </p:sp>
      <p:sp>
        <p:nvSpPr>
          <p:cNvPr id="44" name="Text 3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MLOps  ·  Abdullah Al-Shobaki  ·  AIN-3009</a:t>
            </a:r>
            <a:endParaRPr lang="en-US" sz="900" dirty="0"/>
          </a:p>
        </p:txBody>
      </p:sp>
      <p:sp>
        <p:nvSpPr>
          <p:cNvPr id="45" name="Text 33"/>
          <p:cNvSpPr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TOOLING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Setup &amp; 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03520" cy="45720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880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105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Configuration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77240" y="2560320"/>
            <a:ext cx="91440" cy="2743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8" name="Text 5"/>
          <p:cNvSpPr/>
          <p:nvPr/>
        </p:nvSpPr>
        <p:spPr>
          <a:xfrm>
            <a:off x="1005840" y="24688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Server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server on port 5500 (macOS-safe)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3273552"/>
            <a:ext cx="91440" cy="2743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Text 7"/>
          <p:cNvSpPr/>
          <p:nvPr/>
        </p:nvSpPr>
        <p:spPr>
          <a:xfrm>
            <a:off x="1005840" y="318211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Store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mlflow.db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77240" y="3986784"/>
            <a:ext cx="91440" cy="2743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Text 9"/>
          <p:cNvSpPr/>
          <p:nvPr/>
        </p:nvSpPr>
        <p:spPr>
          <a:xfrm>
            <a:off x="1005840" y="389534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Store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filesystem — mlartifacts/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7240" y="4700016"/>
            <a:ext cx="91440" cy="2743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4" name="Text 11"/>
          <p:cNvSpPr/>
          <p:nvPr/>
        </p:nvSpPr>
        <p:spPr>
          <a:xfrm>
            <a:off x="1005840" y="460857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Telco_Churn_Experiments · HyperTuning · Churn_Monitoring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77240" y="5413248"/>
            <a:ext cx="91440" cy="2743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6" name="Text 13"/>
          <p:cNvSpPr/>
          <p:nvPr/>
        </p:nvSpPr>
        <p:spPr>
          <a:xfrm>
            <a:off x="1005840" y="53218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MLproject file — 6 named entrypoints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80760" y="1645920"/>
            <a:ext cx="5532120" cy="45720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828800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812280" y="18105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6309360" y="2468880"/>
            <a:ext cx="1691640" cy="114300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1" name="Shape 17"/>
          <p:cNvSpPr/>
          <p:nvPr/>
        </p:nvSpPr>
        <p:spPr>
          <a:xfrm>
            <a:off x="6309360" y="2468880"/>
            <a:ext cx="54864" cy="1143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2" name="Text 18"/>
          <p:cNvSpPr/>
          <p:nvPr/>
        </p:nvSpPr>
        <p:spPr>
          <a:xfrm>
            <a:off x="6473952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473952" y="28803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XGBoost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8074152" y="2468880"/>
            <a:ext cx="1691640" cy="114300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5" name="Shape 21"/>
          <p:cNvSpPr/>
          <p:nvPr/>
        </p:nvSpPr>
        <p:spPr>
          <a:xfrm>
            <a:off x="8074152" y="2468880"/>
            <a:ext cx="54864" cy="1143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6" name="Text 22"/>
          <p:cNvSpPr/>
          <p:nvPr/>
        </p:nvSpPr>
        <p:spPr>
          <a:xfrm>
            <a:off x="8238744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8238744" y="28803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imbalanced-learn (SMOTE)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9838944" y="2468880"/>
            <a:ext cx="1691640" cy="114300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9" name="Shape 25"/>
          <p:cNvSpPr/>
          <p:nvPr/>
        </p:nvSpPr>
        <p:spPr>
          <a:xfrm>
            <a:off x="9838944" y="2468880"/>
            <a:ext cx="54864" cy="1143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0" name="Text 26"/>
          <p:cNvSpPr/>
          <p:nvPr/>
        </p:nvSpPr>
        <p:spPr>
          <a:xfrm>
            <a:off x="10003536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10003536" y="28803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0.45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6309360" y="3685032"/>
            <a:ext cx="1691640" cy="114300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3" name="Shape 29"/>
          <p:cNvSpPr/>
          <p:nvPr/>
        </p:nvSpPr>
        <p:spPr>
          <a:xfrm>
            <a:off x="6309360" y="3685032"/>
            <a:ext cx="54864" cy="1143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4" name="Text 30"/>
          <p:cNvSpPr/>
          <p:nvPr/>
        </p:nvSpPr>
        <p:spPr>
          <a:xfrm>
            <a:off x="6473952" y="3794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6473952" y="409651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Hyperopt (TPE)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8074152" y="3685032"/>
            <a:ext cx="1691640" cy="114300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7" name="Shape 33"/>
          <p:cNvSpPr/>
          <p:nvPr/>
        </p:nvSpPr>
        <p:spPr>
          <a:xfrm>
            <a:off x="8074152" y="3685032"/>
            <a:ext cx="54864" cy="1143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8" name="Text 34"/>
          <p:cNvSpPr/>
          <p:nvPr/>
        </p:nvSpPr>
        <p:spPr>
          <a:xfrm>
            <a:off x="8238744" y="3794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8238744" y="409651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2.13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9838944" y="3685032"/>
            <a:ext cx="1691640" cy="114300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1" name="Shape 37"/>
          <p:cNvSpPr/>
          <p:nvPr/>
        </p:nvSpPr>
        <p:spPr>
          <a:xfrm>
            <a:off x="9838944" y="3685032"/>
            <a:ext cx="54864" cy="1143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2" name="Text 38"/>
          <p:cNvSpPr/>
          <p:nvPr/>
        </p:nvSpPr>
        <p:spPr>
          <a:xfrm>
            <a:off x="10003536" y="3794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10003536" y="409651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AI 0.4.30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6309360" y="4901184"/>
            <a:ext cx="1691640" cy="114300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5" name="Shape 41"/>
          <p:cNvSpPr/>
          <p:nvPr/>
        </p:nvSpPr>
        <p:spPr>
          <a:xfrm>
            <a:off x="6309360" y="4901184"/>
            <a:ext cx="54864" cy="1143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6" name="Text 42"/>
          <p:cNvSpPr/>
          <p:nvPr/>
        </p:nvSpPr>
        <p:spPr>
          <a:xfrm>
            <a:off x="6473952" y="5010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6473952" y="5312664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8074152" y="4901184"/>
            <a:ext cx="1691640" cy="114300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9" name="Shape 45"/>
          <p:cNvSpPr/>
          <p:nvPr/>
        </p:nvSpPr>
        <p:spPr>
          <a:xfrm>
            <a:off x="8074152" y="4901184"/>
            <a:ext cx="54864" cy="1143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0" name="Text 46"/>
          <p:cNvSpPr/>
          <p:nvPr/>
        </p:nvSpPr>
        <p:spPr>
          <a:xfrm>
            <a:off x="8238744" y="5010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8238744" y="5312664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Plotly</a:t>
            </a:r>
            <a:endParaRPr lang="en-US" sz="1200" dirty="0"/>
          </a:p>
        </p:txBody>
      </p:sp>
      <p:sp>
        <p:nvSpPr>
          <p:cNvPr id="52" name="Shape 48"/>
          <p:cNvSpPr/>
          <p:nvPr/>
        </p:nvSpPr>
        <p:spPr>
          <a:xfrm>
            <a:off x="9838944" y="4901184"/>
            <a:ext cx="1691640" cy="114300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3" name="Shape 49"/>
          <p:cNvSpPr/>
          <p:nvPr/>
        </p:nvSpPr>
        <p:spPr>
          <a:xfrm>
            <a:off x="9838944" y="4901184"/>
            <a:ext cx="54864" cy="1143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4" name="Text 50"/>
          <p:cNvSpPr/>
          <p:nvPr/>
        </p:nvSpPr>
        <p:spPr>
          <a:xfrm>
            <a:off x="10003536" y="5010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000" dirty="0"/>
          </a:p>
        </p:txBody>
      </p:sp>
      <p:sp>
        <p:nvSpPr>
          <p:cNvPr id="55" name="Text 51"/>
          <p:cNvSpPr/>
          <p:nvPr/>
        </p:nvSpPr>
        <p:spPr>
          <a:xfrm>
            <a:off x="10003536" y="5312664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 SDK v2</a:t>
            </a:r>
            <a:endParaRPr lang="en-US" sz="1200" dirty="0"/>
          </a:p>
        </p:txBody>
      </p:sp>
      <p:sp>
        <p:nvSpPr>
          <p:cNvPr id="56" name="Text 5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MLOps  ·  Abdullah Al-Shobaki  ·  AIN-3009</a:t>
            </a:r>
            <a:endParaRPr lang="en-US" sz="900" dirty="0"/>
          </a:p>
        </p:txBody>
      </p:sp>
      <p:sp>
        <p:nvSpPr>
          <p:cNvPr id="57" name="Text 53"/>
          <p:cNvSpPr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TRAINING &amp;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 — 4 Baseline Models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69494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645920"/>
            <a:ext cx="3931920" cy="219456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Shape 3"/>
          <p:cNvSpPr/>
          <p:nvPr/>
        </p:nvSpPr>
        <p:spPr>
          <a:xfrm>
            <a:off x="7680960" y="1645920"/>
            <a:ext cx="73152" cy="21945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Text 4"/>
          <p:cNvSpPr/>
          <p:nvPr/>
        </p:nvSpPr>
        <p:spPr>
          <a:xfrm>
            <a:off x="786384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WINNER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86384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863840" y="26060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</a:t>
            </a: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0.6303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AUC </a:t>
            </a: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0.8434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F1 </a:t>
            </a: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0.8249 ± 0.030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80960" y="3977640"/>
            <a:ext cx="3931920" cy="22402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41148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75320" y="40965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per run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909560" y="4526280"/>
            <a:ext cx="3703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 &amp; seeds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F1, AUC, precision, recall, accuracy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mean ± std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+ ROC curve PNGs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beeswarm plots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model (.pkl)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MLOps  ·  Abdullah Al-Shobaki  ·  AIN-3009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OPTIMIZATION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with Hyperopt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45720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880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105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TPE Search · 50 Trials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Tree-structured Parzen Estimator searches the GradientBoosting space. Each trial is a nested MLflow run under one parent — fully comparable in the UI.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" y="3383280"/>
            <a:ext cx="4709160" cy="269748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Text 6"/>
          <p:cNvSpPr/>
          <p:nvPr/>
        </p:nvSpPr>
        <p:spPr>
          <a:xfrm>
            <a:off x="914400" y="3474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3840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834640" y="3840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[100, 200, 300, 400, 500]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42611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834640" y="426110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4, 5, 6, 7]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46817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834640" y="46817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loguniform(0.01, 0.3)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14400" y="51023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subsample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834640" y="51023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uniform(0.6, 1.0)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14400" y="55229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min_samples_split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834640" y="552297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[2, 5, 10, 20]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852160" y="1645920"/>
            <a:ext cx="5760720" cy="26060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1" name="Shape 18"/>
          <p:cNvSpPr/>
          <p:nvPr/>
        </p:nvSpPr>
        <p:spPr>
          <a:xfrm>
            <a:off x="5852160" y="1645920"/>
            <a:ext cx="73152" cy="26060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2" name="Text 19"/>
          <p:cNvSpPr/>
          <p:nvPr/>
        </p:nvSpPr>
        <p:spPr>
          <a:xfrm>
            <a:off x="608076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TRIAL — TUNED GRADIENT BOOSTING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080760" y="2194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0.6015</a:t>
            </a:r>
            <a:endParaRPr lang="en-US" sz="4600" dirty="0"/>
          </a:p>
        </p:txBody>
      </p:sp>
      <p:sp>
        <p:nvSpPr>
          <p:cNvPr id="24" name="Text 21"/>
          <p:cNvSpPr/>
          <p:nvPr/>
        </p:nvSpPr>
        <p:spPr>
          <a:xfrm>
            <a:off x="608076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686800" y="2194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0.8443</a:t>
            </a:r>
            <a:endParaRPr lang="en-US" sz="4600" dirty="0"/>
          </a:p>
        </p:txBody>
      </p:sp>
      <p:sp>
        <p:nvSpPr>
          <p:cNvPr id="26" name="Text 23"/>
          <p:cNvSpPr/>
          <p:nvPr/>
        </p:nvSpPr>
        <p:spPr>
          <a:xfrm>
            <a:off x="8686800" y="2971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 (best of 50 trials)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080760" y="352044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Highest AUC across the entire experiment — promoted to Production.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852160" y="4434840"/>
            <a:ext cx="5760720" cy="178308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9" name="Text 26"/>
          <p:cNvSpPr/>
          <p:nvPr/>
        </p:nvSpPr>
        <p:spPr>
          <a:xfrm>
            <a:off x="6035040" y="4526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Hyperparameters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035040" y="4892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406640" y="4892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778240" y="4892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0149840" y="4892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035040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406640" y="5532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0.0545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8778240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subsample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10149840" y="5532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0.712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MLOps  ·  Abdullah Al-Shobaki  ·  AIN-3009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REGISTRY &amp; SERVING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 → Deployment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1691640"/>
            <a:ext cx="2743200" cy="11887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1325880" y="2103120"/>
            <a:ext cx="365760" cy="36576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182880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logged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148840"/>
            <a:ext cx="228600" cy="228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43400" y="1691640"/>
            <a:ext cx="2743200" cy="11887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4572000" y="210312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Text 8"/>
          <p:cNvSpPr/>
          <p:nvPr/>
        </p:nvSpPr>
        <p:spPr>
          <a:xfrm>
            <a:off x="507492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07492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review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148840"/>
            <a:ext cx="228600" cy="228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589520" y="1691640"/>
            <a:ext cx="2743200" cy="11887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5" name="Shape 11"/>
          <p:cNvSpPr/>
          <p:nvPr/>
        </p:nvSpPr>
        <p:spPr>
          <a:xfrm>
            <a:off x="7818120" y="21031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6" name="Text 12"/>
          <p:cNvSpPr/>
          <p:nvPr/>
        </p:nvSpPr>
        <p:spPr>
          <a:xfrm>
            <a:off x="832104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832104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&amp; served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48640" y="3017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ChurnPredictionModel · v1 promoted via register.py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520440"/>
            <a:ext cx="5532120" cy="2743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703320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80160" y="36850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— FastAPI Service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777240" y="4206240"/>
            <a:ext cx="5166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/predict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/health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Swagger UI at /docs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probability · risk badge · retention strategy · ROI %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263640" y="3520440"/>
            <a:ext cx="5349240" cy="2743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703320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95160" y="36850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— Azure ML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6492240" y="4206240"/>
            <a:ext cx="4983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 · Workspace · Compute cluster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Sweden Central · DS3_v2 · auto-scale 0→2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ChurnPredictionModel v1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live in the Azure ML model registry.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MLOps  ·  Abdullah Al-Shobaki  ·  AIN-3009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MONITORING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Monitoring &amp; Drift Detection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69494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645920"/>
            <a:ext cx="3931920" cy="45720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828800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66760" y="18105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Simulation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7863840" y="2532888"/>
            <a:ext cx="109728" cy="640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Text 5"/>
          <p:cNvSpPr/>
          <p:nvPr/>
        </p:nvSpPr>
        <p:spPr>
          <a:xfrm>
            <a:off x="8092440" y="2468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1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09244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· clean test data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863840" y="3401568"/>
            <a:ext cx="109728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Text 8"/>
          <p:cNvSpPr/>
          <p:nvPr/>
        </p:nvSpPr>
        <p:spPr>
          <a:xfrm>
            <a:off x="8092440" y="3337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092440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 σ=0.3 on features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863840" y="4270248"/>
            <a:ext cx="109728" cy="6400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5" name="Text 11"/>
          <p:cNvSpPr/>
          <p:nvPr/>
        </p:nvSpPr>
        <p:spPr>
          <a:xfrm>
            <a:off x="8092440" y="4206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3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092440" y="4526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σ=0.8 noise + 20% label flip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818120" y="5074920"/>
            <a:ext cx="3657600" cy="100584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8" name="Text 14"/>
          <p:cNvSpPr/>
          <p:nvPr/>
        </p:nvSpPr>
        <p:spPr>
          <a:xfrm>
            <a:off x="7909560" y="5166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drops 0.60 → 0.43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909560" y="546811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retraining signal · Evidently HTML reports logged as MLflow artifacts.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MLOps  ·  Abdullah Al-Shobaki  ·  AIN-3009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DEMO INTERFACE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— The Front Door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39776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10972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6" name="Shape 4"/>
          <p:cNvSpPr/>
          <p:nvPr/>
        </p:nvSpPr>
        <p:spPr>
          <a:xfrm>
            <a:off x="1988820" y="2194560"/>
            <a:ext cx="731520" cy="731520"/>
          </a:xfrm>
          <a:prstGeom prst="ellipse">
            <a:avLst/>
          </a:prstGeom>
          <a:solidFill>
            <a:srgbClr val="273449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692" y="2313432"/>
            <a:ext cx="493776" cy="493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0632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Predictor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61188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19-field input form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gauge 0–100%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badge: High / Medium / Low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waterfall per customer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strategy + ROI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25112" y="1783080"/>
            <a:ext cx="3611880" cy="39776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1" name="Shape 8"/>
          <p:cNvSpPr/>
          <p:nvPr/>
        </p:nvSpPr>
        <p:spPr>
          <a:xfrm>
            <a:off x="4325112" y="1783080"/>
            <a:ext cx="3611880" cy="10972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Shape 9"/>
          <p:cNvSpPr/>
          <p:nvPr/>
        </p:nvSpPr>
        <p:spPr>
          <a:xfrm>
            <a:off x="5765292" y="2194560"/>
            <a:ext cx="731520" cy="731520"/>
          </a:xfrm>
          <a:prstGeom prst="ellipse">
            <a:avLst/>
          </a:prstGeom>
          <a:solidFill>
            <a:srgbClr val="273449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164" y="2313432"/>
            <a:ext cx="493776" cy="4937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16552" y="30632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690872" y="361188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bar charts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AUC · Precision · Recall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scores table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baseline models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model comparison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01584" y="1783080"/>
            <a:ext cx="3611880" cy="39776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7" name="Shape 13"/>
          <p:cNvSpPr/>
          <p:nvPr/>
        </p:nvSpPr>
        <p:spPr>
          <a:xfrm>
            <a:off x="8101584" y="1783080"/>
            <a:ext cx="3611880" cy="10972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8" name="Shape 14"/>
          <p:cNvSpPr/>
          <p:nvPr/>
        </p:nvSpPr>
        <p:spPr>
          <a:xfrm>
            <a:off x="9541764" y="2194560"/>
            <a:ext cx="731520" cy="731520"/>
          </a:xfrm>
          <a:prstGeom prst="ellipse">
            <a:avLst/>
          </a:prstGeom>
          <a:solidFill>
            <a:srgbClr val="273449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0636" y="2313432"/>
            <a:ext cx="493776" cy="4937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193024" y="30632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467344" y="361188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trend across windows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+ Accuracy line chart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HTML report links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as MLflow artifacts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alert signals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6035040"/>
            <a:ext cx="11064240" cy="41148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3" name="Text 18"/>
          <p:cNvSpPr/>
          <p:nvPr/>
        </p:nvSpPr>
        <p:spPr>
          <a:xfrm>
            <a:off x="731520" y="6035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API response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2468880" y="603504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prob: 0.8741  ·  risk: High  ·  strategy: "Offer 20% upgrade to 1-yr contract"  ·  ROI: 1906%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MLOps  ·  Abdullah Al-Shobaki  ·  AIN-3009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4C702B-AD73-BD04-A9BC-CA814DAF4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007D9C6-0317-11C0-2780-63E9949F0D56}"/>
              </a:ext>
            </a:extLst>
          </p:cNvPr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780FA1-AAF9-24FE-9ED0-F23E6CBAB413}"/>
              </a:ext>
            </a:extLst>
          </p:cNvPr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EB210C3A-4F7C-CAFD-53D9-3B51C98AC79A}"/>
              </a:ext>
            </a:extLst>
          </p:cNvPr>
          <p:cNvSpPr/>
          <p:nvPr/>
        </p:nvSpPr>
        <p:spPr>
          <a:xfrm>
            <a:off x="731520" y="6035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8F33A861-E85B-E05E-E48E-9ADCB109FEB5}"/>
              </a:ext>
            </a:extLst>
          </p:cNvPr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8835591A-C29C-D524-FCE6-7370632BD0C1}"/>
              </a:ext>
            </a:extLst>
          </p:cNvPr>
          <p:cNvSpPr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defTabSz="914400" rtl="0" eaLnBrk="1" latinLnBrk="0" hangingPunct="1">
              <a:buNone/>
            </a:pPr>
            <a:endParaRPr lang="en-US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8FBFB4F-D332-A3C1-0AB8-96F353A0F2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0"/>
            <a:ext cx="10922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329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MET  ·  KEY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MLOps — Delivered.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94560" cy="2743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1828800"/>
            <a:ext cx="292608" cy="29260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92024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31520" y="324612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 · params · metrics · SHAP · CV — all in MLflow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852928" y="1691640"/>
            <a:ext cx="2194560" cy="2743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828800"/>
            <a:ext cx="292608" cy="29260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1528" y="1920240"/>
            <a:ext cx="548640" cy="5486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035808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Tuning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3035808" y="324612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Hyperopt trials · best AUC 0.8443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5157216" y="1691640"/>
            <a:ext cx="2194560" cy="2743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296" y="1828800"/>
            <a:ext cx="292608" cy="292608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5816" y="1920240"/>
            <a:ext cx="548640" cy="54864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340096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8" name="Text 10"/>
          <p:cNvSpPr/>
          <p:nvPr/>
        </p:nvSpPr>
        <p:spPr>
          <a:xfrm>
            <a:off x="5340096" y="324612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 + Azure ML registered model</a:t>
            </a:r>
            <a:endParaRPr lang="en-US" sz="1100" dirty="0"/>
          </a:p>
        </p:txBody>
      </p:sp>
      <p:sp>
        <p:nvSpPr>
          <p:cNvPr id="19" name="Shape 11"/>
          <p:cNvSpPr/>
          <p:nvPr/>
        </p:nvSpPr>
        <p:spPr>
          <a:xfrm>
            <a:off x="7461504" y="1691640"/>
            <a:ext cx="2194560" cy="2743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4584" y="1828800"/>
            <a:ext cx="292608" cy="292608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0104" y="1920240"/>
            <a:ext cx="548640" cy="54864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7644384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23" name="Text 13"/>
          <p:cNvSpPr/>
          <p:nvPr/>
        </p:nvSpPr>
        <p:spPr>
          <a:xfrm>
            <a:off x="7644384" y="324612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3-window drift · Evidently HTML in MLflow</a:t>
            </a:r>
            <a:endParaRPr lang="en-US" sz="1100" dirty="0"/>
          </a:p>
        </p:txBody>
      </p:sp>
      <p:sp>
        <p:nvSpPr>
          <p:cNvPr id="24" name="Shape 14"/>
          <p:cNvSpPr/>
          <p:nvPr/>
        </p:nvSpPr>
        <p:spPr>
          <a:xfrm>
            <a:off x="9765792" y="1691640"/>
            <a:ext cx="2194560" cy="2743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8872" y="1828800"/>
            <a:ext cx="292608" cy="292608"/>
          </a:xfrm>
          <a:prstGeom prst="rect">
            <a:avLst/>
          </a:prstGeom>
        </p:spPr>
      </p:pic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94392" y="1920240"/>
            <a:ext cx="548640" cy="54864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9948672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1400" dirty="0"/>
          </a:p>
        </p:txBody>
      </p:sp>
      <p:sp>
        <p:nvSpPr>
          <p:cNvPr id="28" name="Text 16"/>
          <p:cNvSpPr/>
          <p:nvPr/>
        </p:nvSpPr>
        <p:spPr>
          <a:xfrm>
            <a:off x="9948672" y="324612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promoted: None → Staging → Production</a:t>
            </a:r>
            <a:endParaRPr lang="en-US" sz="1100" dirty="0"/>
          </a:p>
        </p:txBody>
      </p:sp>
      <p:sp>
        <p:nvSpPr>
          <p:cNvPr id="29" name="Shape 17"/>
          <p:cNvSpPr/>
          <p:nvPr/>
        </p:nvSpPr>
        <p:spPr>
          <a:xfrm>
            <a:off x="548640" y="4617720"/>
            <a:ext cx="3614928" cy="12801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0" name="Text 18"/>
          <p:cNvSpPr/>
          <p:nvPr/>
        </p:nvSpPr>
        <p:spPr>
          <a:xfrm>
            <a:off x="548640" y="4663440"/>
            <a:ext cx="3614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0.8443</a:t>
            </a:r>
            <a:endParaRPr lang="en-US" sz="3400" dirty="0"/>
          </a:p>
        </p:txBody>
      </p:sp>
      <p:sp>
        <p:nvSpPr>
          <p:cNvPr id="31" name="Text 19"/>
          <p:cNvSpPr/>
          <p:nvPr/>
        </p:nvSpPr>
        <p:spPr>
          <a:xfrm>
            <a:off x="548640" y="5349240"/>
            <a:ext cx="3614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ROC-AUC (tuned GB)</a:t>
            </a:r>
            <a:endParaRPr lang="en-US" sz="1100" dirty="0"/>
          </a:p>
        </p:txBody>
      </p:sp>
      <p:sp>
        <p:nvSpPr>
          <p:cNvPr id="32" name="Shape 20"/>
          <p:cNvSpPr/>
          <p:nvPr/>
        </p:nvSpPr>
        <p:spPr>
          <a:xfrm>
            <a:off x="4273296" y="4617720"/>
            <a:ext cx="3614928" cy="12801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3" name="Text 21"/>
          <p:cNvSpPr/>
          <p:nvPr/>
        </p:nvSpPr>
        <p:spPr>
          <a:xfrm>
            <a:off x="4273296" y="4663440"/>
            <a:ext cx="3614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400" dirty="0"/>
          </a:p>
        </p:txBody>
      </p:sp>
      <p:sp>
        <p:nvSpPr>
          <p:cNvPr id="34" name="Text 22"/>
          <p:cNvSpPr/>
          <p:nvPr/>
        </p:nvSpPr>
        <p:spPr>
          <a:xfrm>
            <a:off x="4273296" y="5349240"/>
            <a:ext cx="3614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Hyperopt nested runs</a:t>
            </a:r>
            <a:endParaRPr lang="en-US" sz="1100" dirty="0"/>
          </a:p>
        </p:txBody>
      </p:sp>
      <p:sp>
        <p:nvSpPr>
          <p:cNvPr id="35" name="Shape 23"/>
          <p:cNvSpPr/>
          <p:nvPr/>
        </p:nvSpPr>
        <p:spPr>
          <a:xfrm>
            <a:off x="7997952" y="4617720"/>
            <a:ext cx="3614928" cy="12801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6" name="Text 24"/>
          <p:cNvSpPr/>
          <p:nvPr/>
        </p:nvSpPr>
        <p:spPr>
          <a:xfrm>
            <a:off x="7997952" y="4663440"/>
            <a:ext cx="3614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37" name="Text 25"/>
          <p:cNvSpPr/>
          <p:nvPr/>
        </p:nvSpPr>
        <p:spPr>
          <a:xfrm>
            <a:off x="7997952" y="5349240"/>
            <a:ext cx="3614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windows monitored</a:t>
            </a:r>
            <a:endParaRPr lang="en-US" sz="1100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6172200"/>
            <a:ext cx="365760" cy="36576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1097280" y="6172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github.com/3bdulah/telco-churn-mlops</a:t>
            </a:r>
            <a:endParaRPr lang="en-US" sz="1200" dirty="0"/>
          </a:p>
        </p:txBody>
      </p:sp>
      <p:sp>
        <p:nvSpPr>
          <p:cNvPr id="40" name="Text 27"/>
          <p:cNvSpPr/>
          <p:nvPr/>
        </p:nvSpPr>
        <p:spPr>
          <a:xfrm>
            <a:off x="640080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1032</Words>
  <Application>Microsoft Macintosh PowerPoint</Application>
  <PresentationFormat>Widescreen</PresentationFormat>
  <Paragraphs>244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Telco Churn MLOps — AIN-3009 Term Project</dc:title>
  <dc:subject>PptxGenJS Presentation</dc:subject>
  <dc:creator>Abdullah Hani Abdellatif Al-Shobaki</dc:creator>
  <cp:lastModifiedBy>ABDULLAH HANI ABDELLATIF AL-SHOBAKI</cp:lastModifiedBy>
  <cp:revision>2</cp:revision>
  <dcterms:created xsi:type="dcterms:W3CDTF">2026-05-18T23:30:12Z</dcterms:created>
  <dcterms:modified xsi:type="dcterms:W3CDTF">2026-05-19T00:19:39Z</dcterms:modified>
</cp:coreProperties>
</file>